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c04627e5c04ff0" /><Relationship Type="http://schemas.openxmlformats.org/officeDocument/2006/relationships/extended-properties" Target="/docProps/app.xml" Id="R50585369f7584478" /><Relationship Type="http://schemas.openxmlformats.org/officeDocument/2006/relationships/officeDocument" Target="/ppt/presentation.xml" Id="Ra7cd47d99faf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2ad9e8d484405"/>
  </p:sldMasterIdLst>
  <p:notesMasterIdLst>
    <p:notesMasterId xmlns:r="http://schemas.openxmlformats.org/officeDocument/2006/relationships" r:id="R7821801286cf4b7d"/>
  </p:notesMasterIdLst>
  <p:sldIdLst>
    <p:sldId xmlns:r="http://schemas.openxmlformats.org/officeDocument/2006/relationships" id="256" r:id="Rc948d0e113e444b5"/>
    <p:sldId xmlns:r="http://schemas.openxmlformats.org/officeDocument/2006/relationships" id="257" r:id="R613cb96a53f14b02"/>
    <p:sldId xmlns:r="http://schemas.openxmlformats.org/officeDocument/2006/relationships" id="258" r:id="Rbcac7829bac74138"/>
    <p:sldId xmlns:r="http://schemas.openxmlformats.org/officeDocument/2006/relationships" id="259" r:id="Rdd0d36ff28374188"/>
    <p:sldId xmlns:r="http://schemas.openxmlformats.org/officeDocument/2006/relationships" id="260" r:id="R65bd5def5b974255"/>
    <p:sldId xmlns:r="http://schemas.openxmlformats.org/officeDocument/2006/relationships" id="261" r:id="R0f5966dcd96146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544b50528f4a04" /><Relationship Type="http://schemas.openxmlformats.org/officeDocument/2006/relationships/slideMaster" Target="/ppt/slideMasters/slideMaster1.xml" Id="R22e2ad9e8d484405" /><Relationship Type="http://schemas.openxmlformats.org/officeDocument/2006/relationships/notesMaster" Target="/ppt/notesMasters/notesMaster1.xml" Id="R7821801286cf4b7d" /><Relationship Type="http://schemas.openxmlformats.org/officeDocument/2006/relationships/presProps" Target="/ppt/presProps.xml" Id="Rb73311c4cb6d4aa5" /><Relationship Type="http://schemas.openxmlformats.org/officeDocument/2006/relationships/tableStyles" Target="/ppt/tableStyles.xml" Id="Rbfcbd9afc16e403c" /><Relationship Type="http://schemas.openxmlformats.org/officeDocument/2006/relationships/slide" Target="/ppt/slides/slide1.xml" Id="Rc948d0e113e444b5" /><Relationship Type="http://schemas.openxmlformats.org/officeDocument/2006/relationships/slide" Target="/ppt/slides/slide2.xml" Id="R613cb96a53f14b02" /><Relationship Type="http://schemas.openxmlformats.org/officeDocument/2006/relationships/slide" Target="/ppt/slides/slide3.xml" Id="Rbcac7829bac74138" /><Relationship Type="http://schemas.openxmlformats.org/officeDocument/2006/relationships/slide" Target="/ppt/slides/slide4.xml" Id="Rdd0d36ff28374188" /><Relationship Type="http://schemas.openxmlformats.org/officeDocument/2006/relationships/slide" Target="/ppt/slides/slide5.xml" Id="R65bd5def5b974255" /><Relationship Type="http://schemas.openxmlformats.org/officeDocument/2006/relationships/slide" Target="/ppt/slides/slide6.xml" Id="R0f5966dcd96146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c2d552fa94b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bf6030f25c4080" /><Relationship Type="http://schemas.openxmlformats.org/officeDocument/2006/relationships/notesMaster" Target="/ppt/notesMasters/notesMaster1.xml" Id="R77deb50b373b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a5f4d3b1ae433d" /><Relationship Type="http://schemas.openxmlformats.org/officeDocument/2006/relationships/notesMaster" Target="/ppt/notesMasters/notesMaster1.xml" Id="R6c11df357c4f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1cb24db28b4ecb" /><Relationship Type="http://schemas.openxmlformats.org/officeDocument/2006/relationships/notesMaster" Target="/ppt/notesMasters/notesMaster1.xml" Id="Rf9fdb2c47f9b4a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c389b9f9634772" /><Relationship Type="http://schemas.openxmlformats.org/officeDocument/2006/relationships/notesMaster" Target="/ppt/notesMasters/notesMaster1.xml" Id="R4a3540e3f84c4b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5225222de34896" /><Relationship Type="http://schemas.openxmlformats.org/officeDocument/2006/relationships/notesMaster" Target="/ppt/notesMasters/notesMaster1.xml" Id="Re94948655dd348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8ca867d544c50" /><Relationship Type="http://schemas.openxmlformats.org/officeDocument/2006/relationships/notesMaster" Target="/ppt/notesMasters/notesMaster1.xml" Id="R7d8c3f012e11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Konsep dikembangkan dari sketsa lantai 1 dan daftar kebutuhan ruang lantai 2. Semua dimensi dan susunan ruang masih perkiraan.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Susunan lantai 1 mengikuti pembacaan sketsa. Sebagian label area dapur dan servis pada sketsa kurang terbaca, sehingga penyebutannya masih interpretasi. Daftar ruang lantai 2 mengikuti kebutuhan yang diberikan.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Denah adalah pembacaan konseptual dari sketsa yang dilampirkan. Label pantry / dapur dan servis merupakan interpretasi, bukan ukuran hasil survei.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Pembagian dan dimensi ruang lantai 2 dibuat untuk mengakomodasi daftar kebutuhan yang diberikan. Ukuran aktual akan bergantung pada pengukuran tapak, setback, struktur dan bukaan.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Tampilan diambil dari model Blender konseptual yang dapat diputar pada halaman web. Render ini membantu melihat hubungan massa dan susunan ruang, bukan representasi kondisi terbangun.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Langkah pengembangan yang disarankan sebelum dibuat gambar kerja. Tidak ada klaim bahwa kebutuhan struktur, aturan setempat, akses darurat atau detail instalasi telah diverifikasi.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c66d362424a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cd1fbc91c246c0" /><Relationship Type="http://schemas.openxmlformats.org/officeDocument/2006/relationships/slideLayout" Target="/ppt/slideLayouts/slideLayout1.xml" Id="R9ac462fdb08748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462fdb08748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9cf145b244d7b" /><Relationship Type="http://schemas.openxmlformats.org/officeDocument/2006/relationships/image" Target="/ppt/media/image.png" Id="R8c8368c20c204e72" /><Relationship Type="http://schemas.openxmlformats.org/officeDocument/2006/relationships/notesSlide" Target="/ppt/notesSlides/notesSlide1.xml" Id="Rb123b53be4cd4c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2133d26254a2a" /><Relationship Type="http://schemas.openxmlformats.org/officeDocument/2006/relationships/notesSlide" Target="/ppt/notesSlides/notesSlide2.xml" Id="Rbac7d786402d4b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99cc00ee04a02" /><Relationship Type="http://schemas.openxmlformats.org/officeDocument/2006/relationships/image" Target="/ppt/media/image2.png" Id="R68e9b9324c92470d" /><Relationship Type="http://schemas.openxmlformats.org/officeDocument/2006/relationships/notesSlide" Target="/ppt/notesSlides/notesSlide3.xml" Id="Ra3874cb11d1c4d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79a02442e4434" /><Relationship Type="http://schemas.openxmlformats.org/officeDocument/2006/relationships/image" Target="/ppt/media/image3.png" Id="Rb071180499ab462c" /><Relationship Type="http://schemas.openxmlformats.org/officeDocument/2006/relationships/notesSlide" Target="/ppt/notesSlides/notesSlide4.xml" Id="Ra5a4bb9a59ee48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1e36ce4f5493b" /><Relationship Type="http://schemas.openxmlformats.org/officeDocument/2006/relationships/image" Target="/ppt/media/image4.png" Id="R7d0227ac56324d08" /><Relationship Type="http://schemas.openxmlformats.org/officeDocument/2006/relationships/image" Target="/ppt/media/image5.png" Id="Ra18dfd41a7044434" /><Relationship Type="http://schemas.openxmlformats.org/officeDocument/2006/relationships/image" Target="/ppt/media/image6.png" Id="R7ea0beedc2004089" /><Relationship Type="http://schemas.openxmlformats.org/officeDocument/2006/relationships/notesSlide" Target="/ppt/notesSlides/notesSlide5.xml" Id="Rc1e2e0579f514d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f5b84a3a943e0" /><Relationship Type="http://schemas.openxmlformats.org/officeDocument/2006/relationships/notesSlide" Target="/ppt/notesSlides/notesSlide6.xml" Id="R8b1df8f113ed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368c20c204e72"/>
          <a:srcRect xmlns:a="http://schemas.openxmlformats.org/drawingml/2006/main" l="2877" t="0" r="28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0"/>
            <a:ext cx="9048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wash">
            <a:extLst xmlns:a="http://schemas.openxmlformats.org/drawingml/2006/main">
              <a:ext uri="{FF2B5EF4-FFF2-40B4-BE49-F238E27FC236}">
                <a16:creationId xmlns:a16="http://schemas.microsoft.com/office/drawing/2014/main" id="{470BC3D7-9117-4433-87F1-0473FA65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03F1034-1E24-4217-991A-5B0E03D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6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E68A29D-D90F-45E6-977C-1802926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KONSEP HUNIAN · 2026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29907B5-DE5E-4390-9F7B-BE302E4B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Desain elegan</a:t>
            </a:r>
          </a:p>
          <a:p xmlns:a="http://schemas.openxmlformats.org/drawingml/2006/main">
            <a:pPr algn="l">
              <a:defRPr sz="40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rumah kekinian</a:t>
            </a:r>
          </a:p>
        </p:txBody>
      </p:sp>
      <p:sp>
        <p:nvSpPr>
          <p:cNvPr id="6" name="cover-measure">
            <a:extLst xmlns:a="http://schemas.openxmlformats.org/drawingml/2006/main">
              <a:ext uri="{FF2B5EF4-FFF2-40B4-BE49-F238E27FC236}">
                <a16:creationId xmlns:a16="http://schemas.microsoft.com/office/drawing/2014/main" id="{0FF7DED9-5515-4044-87BE-FAAEB91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71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185"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AE674B"/>
                </a:solidFill>
                <a:latin typeface="Arial"/>
                <a:ea typeface="Arial"/>
                <a:cs typeface="Arial"/>
              </a:rPr>
              <a:t>8 × 18 m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3FDFFEF-2CB3-499F-A9DE-F06AC3A1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58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Studi tata ruang dua lantai</a:t>
            </a:r>
          </a:p>
          <a:p xmlns:a="http://schemas.openxmlformats.org/drawingml/2006/main">
            <a:pPr algn="l">
              <a:defRPr sz="16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untuk kebutuhan keluarga</a:t>
            </a:r>
          </a:p>
        </p:txBody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F14213E-ED03-4314-8B4C-42A15D11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756D"/>
                </a:solidFill>
                <a:latin typeface="Arial"/>
                <a:ea typeface="Arial"/>
                <a:cs typeface="Arial"/>
              </a:rPr>
              <a:t>DENAH AWAL · MODEL 3D · CATATAN PENGEMBANGAN</a:t>
            </a:r>
          </a:p>
        </p:txBody>
      </p:sp>
    </p:spTree>
    <p:extLst>
      <p:ext uri="{BB962C8B-B14F-4D97-AF65-F5344CB8AC3E}">
        <p14:creationId xmlns:p14="http://schemas.microsoft.com/office/powerpoint/2010/main" val="788711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2">
            <a:extLst xmlns:a="http://schemas.openxmlformats.org/drawingml/2006/main">
              <a:ext uri="{FF2B5EF4-FFF2-40B4-BE49-F238E27FC236}">
                <a16:creationId xmlns:a16="http://schemas.microsoft.com/office/drawing/2014/main" id="{7C08DB8E-F911-4967-B2DB-F4BA695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6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8B67E661-F95F-4796-8219-B98A4478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56D"/>
                </a:solidFill>
                <a:latin typeface="Arial"/>
                <a:ea typeface="Arial"/>
                <a:cs typeface="Arial"/>
              </a:rPr>
              <a:t>PROGRAM RUANG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7932CC49-457B-4F6A-8CF3-A742332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FECDA-709F-4F02-8F62-C87CED0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Kebutuhan ruang keluarga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0FAA66-3ACA-448F-9C0D-45624E8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Lantai atas menambah balkon, ruang kerja, dan kamar anak di atas tapak 8 × 18 m.</a:t>
            </a:r>
          </a:p>
        </p:txBody>
      </p:sp>
      <p:sp>
        <p:nvSpPr>
          <p:cNvPr id="6" name="column-rule">
            <a:extLst xmlns:a="http://schemas.openxmlformats.org/drawingml/2006/main">
              <a:ext uri="{FF2B5EF4-FFF2-40B4-BE49-F238E27FC236}">
                <a16:creationId xmlns:a16="http://schemas.microsoft.com/office/drawing/2014/main" id="{3ED7BE15-4057-4496-AF75-DAE2D02A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95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1-label">
            <a:extLst xmlns:a="http://schemas.openxmlformats.org/drawingml/2006/main">
              <a:ext uri="{FF2B5EF4-FFF2-40B4-BE49-F238E27FC236}">
                <a16:creationId xmlns:a16="http://schemas.microsoft.com/office/drawing/2014/main" id="{04D23B6B-D32F-4037-A70D-6BF7AA7D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E674B"/>
                </a:solidFill>
                <a:latin typeface="Arial"/>
                <a:ea typeface="Arial"/>
                <a:cs typeface="Arial"/>
              </a:rPr>
              <a:t>01  /  LANTAI 1</a:t>
            </a:r>
          </a:p>
        </p:txBody>
      </p:sp>
      <p:sp>
        <p:nvSpPr>
          <p:cNvPr id="8" name="f1-main">
            <a:extLst xmlns:a="http://schemas.openxmlformats.org/drawingml/2006/main">
              <a:ext uri="{FF2B5EF4-FFF2-40B4-BE49-F238E27FC236}">
                <a16:creationId xmlns:a16="http://schemas.microsoft.com/office/drawing/2014/main" id="{43D912FC-7A85-4922-94E4-C31B82C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Area komunal dan servis</a:t>
            </a:r>
          </a:p>
        </p:txBody>
      </p:sp>
      <p:sp>
        <p:nvSpPr>
          <p:cNvPr id="9" name="heading-Depan">
            <a:extLst xmlns:a="http://schemas.openxmlformats.org/drawingml/2006/main">
              <a:ext uri="{FF2B5EF4-FFF2-40B4-BE49-F238E27FC236}">
                <a16:creationId xmlns:a16="http://schemas.microsoft.com/office/drawing/2014/main" id="{EFBF61F4-50FD-4C08-8196-D2C5B48A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Depan</a:t>
            </a:r>
          </a:p>
        </p:txBody>
      </p:sp>
      <p:sp>
        <p:nvSpPr>
          <p:cNvPr id="10" name="body-Depan">
            <a:extLst xmlns:a="http://schemas.openxmlformats.org/drawingml/2006/main">
              <a:ext uri="{FF2B5EF4-FFF2-40B4-BE49-F238E27FC236}">
                <a16:creationId xmlns:a16="http://schemas.microsoft.com/office/drawing/2014/main" id="{9A3B8F85-92EC-4A34-983C-B0A4E3C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Teras dan ruang tamu menjadi area penerima, dilanjutkan ke ruang keluarga.</a:t>
            </a:r>
          </a:p>
        </p:txBody>
      </p:sp>
      <p:sp>
        <p:nvSpPr>
          <p:cNvPr id="11" name="heading-Privat">
            <a:extLst xmlns:a="http://schemas.openxmlformats.org/drawingml/2006/main">
              <a:ext uri="{FF2B5EF4-FFF2-40B4-BE49-F238E27FC236}">
                <a16:creationId xmlns:a16="http://schemas.microsoft.com/office/drawing/2014/main" id="{C02FFF38-A723-4578-9BFD-DC19F779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957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Privat</a:t>
            </a:r>
          </a:p>
        </p:txBody>
      </p:sp>
      <p:sp>
        <p:nvSpPr>
          <p:cNvPr id="12" name="body-Privat">
            <a:extLst xmlns:a="http://schemas.openxmlformats.org/drawingml/2006/main">
              <a:ext uri="{FF2B5EF4-FFF2-40B4-BE49-F238E27FC236}">
                <a16:creationId xmlns:a16="http://schemas.microsoft.com/office/drawing/2014/main" id="{E86A2DEE-C453-4829-B666-B28CA192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Kamar 1, kamar 2, dan kamar utama tersusun dari tengah ke belakang.</a:t>
            </a:r>
          </a:p>
        </p:txBody>
      </p:sp>
      <p:sp>
        <p:nvSpPr>
          <p:cNvPr id="13" name="heading-Servis">
            <a:extLst xmlns:a="http://schemas.openxmlformats.org/drawingml/2006/main">
              <a:ext uri="{FF2B5EF4-FFF2-40B4-BE49-F238E27FC236}">
                <a16:creationId xmlns:a16="http://schemas.microsoft.com/office/drawing/2014/main" id="{03244F2A-5D55-4AE3-BA41-F751969A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14" name="body-Servis">
            <a:extLst xmlns:a="http://schemas.openxmlformats.org/drawingml/2006/main">
              <a:ext uri="{FF2B5EF4-FFF2-40B4-BE49-F238E27FC236}">
                <a16:creationId xmlns:a16="http://schemas.microsoft.com/office/drawing/2014/main" id="{BB23F28A-BDE4-4B1C-8A0E-35B097F2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Pantry / dapur, meja makan, toilet bersama, dan cuci jemur.</a:t>
            </a:r>
          </a:p>
        </p:txBody>
      </p:sp>
      <p:sp>
        <p:nvSpPr>
          <p:cNvPr id="15" name="f2-label">
            <a:extLst xmlns:a="http://schemas.openxmlformats.org/drawingml/2006/main">
              <a:ext uri="{FF2B5EF4-FFF2-40B4-BE49-F238E27FC236}">
                <a16:creationId xmlns:a16="http://schemas.microsoft.com/office/drawing/2014/main" id="{D77923E9-D2EE-4F77-850B-FEBDB6CB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E674B"/>
                </a:solidFill>
                <a:latin typeface="Arial"/>
                <a:ea typeface="Arial"/>
                <a:cs typeface="Arial"/>
              </a:rPr>
              <a:t>02  /  LANTAI 2</a:t>
            </a:r>
          </a:p>
        </p:txBody>
      </p:sp>
      <p:sp>
        <p:nvSpPr>
          <p:cNvPr id="16" name="f2-main">
            <a:extLst xmlns:a="http://schemas.openxmlformats.org/drawingml/2006/main">
              <a:ext uri="{FF2B5EF4-FFF2-40B4-BE49-F238E27FC236}">
                <a16:creationId xmlns:a16="http://schemas.microsoft.com/office/drawing/2014/main" id="{FF125A8C-F301-4A24-92E3-110D5776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Ruang keluarga dan kamar</a:t>
            </a:r>
          </a:p>
        </p:txBody>
      </p:sp>
      <p:sp>
        <p:nvSpPr>
          <p:cNvPr id="17" name="heading-Balkon dan tamu">
            <a:extLst xmlns:a="http://schemas.openxmlformats.org/drawingml/2006/main">
              <a:ext uri="{FF2B5EF4-FFF2-40B4-BE49-F238E27FC236}">
                <a16:creationId xmlns:a16="http://schemas.microsoft.com/office/drawing/2014/main" id="{75949A41-D6C2-4F77-A67A-873DA424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Balkon dan tamu</a:t>
            </a:r>
          </a:p>
        </p:txBody>
      </p:sp>
      <p:sp>
        <p:nvSpPr>
          <p:cNvPr id="18" name="body-Balkon dan tamu">
            <a:extLst xmlns:a="http://schemas.openxmlformats.org/drawingml/2006/main">
              <a:ext uri="{FF2B5EF4-FFF2-40B4-BE49-F238E27FC236}">
                <a16:creationId xmlns:a16="http://schemas.microsoft.com/office/drawing/2014/main" id="{9C66933D-1ADF-448E-8E0B-A4821D7E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1472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Balkon depan terhubung dengan ruang tamu.</a:t>
            </a:r>
          </a:p>
        </p:txBody>
      </p:sp>
      <p:sp>
        <p:nvSpPr>
          <p:cNvPr id="19" name="heading-Kerja dan simpan">
            <a:extLst xmlns:a="http://schemas.openxmlformats.org/drawingml/2006/main">
              <a:ext uri="{FF2B5EF4-FFF2-40B4-BE49-F238E27FC236}">
                <a16:creationId xmlns:a16="http://schemas.microsoft.com/office/drawing/2014/main" id="{215A3880-FABB-41B7-8208-C3971EA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Kerja dan simpan</a:t>
            </a:r>
          </a:p>
        </p:txBody>
      </p:sp>
      <p:sp>
        <p:nvSpPr>
          <p:cNvPr id="20" name="body-Kerja dan simpan">
            <a:extLst xmlns:a="http://schemas.openxmlformats.org/drawingml/2006/main">
              <a:ext uri="{FF2B5EF4-FFF2-40B4-BE49-F238E27FC236}">
                <a16:creationId xmlns:a16="http://schemas.microsoft.com/office/drawing/2014/main" id="{656CABA8-0BD1-437B-A4DF-73E5BCC0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4342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Meja kerja serta lemari sepatu ditempatkan dekat sirkulasi tangga.</a:t>
            </a:r>
          </a:p>
        </p:txBody>
      </p:sp>
      <p:sp>
        <p:nvSpPr>
          <p:cNvPr id="21" name="heading-Kamar keluarga">
            <a:extLst xmlns:a="http://schemas.openxmlformats.org/drawingml/2006/main">
              <a:ext uri="{FF2B5EF4-FFF2-40B4-BE49-F238E27FC236}">
                <a16:creationId xmlns:a16="http://schemas.microsoft.com/office/drawing/2014/main" id="{4D93B016-ABDF-4C4F-A1D0-7E8DED0E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48275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Kamar keluarga</a:t>
            </a:r>
          </a:p>
        </p:txBody>
      </p:sp>
      <p:sp>
        <p:nvSpPr>
          <p:cNvPr id="22" name="body-Kamar keluarga">
            <a:extLst xmlns:a="http://schemas.openxmlformats.org/drawingml/2006/main">
              <a:ext uri="{FF2B5EF4-FFF2-40B4-BE49-F238E27FC236}">
                <a16:creationId xmlns:a16="http://schemas.microsoft.com/office/drawing/2014/main" id="{FB8E6B53-A6EC-4F7C-8497-B573CEE8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72125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Kamar utama dengan toilet dalam, dua kamar anak, toilet bersama, area makan, dan pantry.</a:t>
            </a:r>
          </a:p>
        </p:txBody>
      </p:sp>
    </p:spTree>
    <p:extLst>
      <p:ext uri="{BB962C8B-B14F-4D97-AF65-F5344CB8AC3E}">
        <p14:creationId xmlns:p14="http://schemas.microsoft.com/office/powerpoint/2010/main" val="1412710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-3">
            <a:extLst xmlns:a="http://schemas.openxmlformats.org/drawingml/2006/main">
              <a:ext uri="{FF2B5EF4-FFF2-40B4-BE49-F238E27FC236}">
                <a16:creationId xmlns:a16="http://schemas.microsoft.com/office/drawing/2014/main" id="{7AB1F025-C798-4E6E-916C-8E6DB9E9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6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A4AD330D-B355-4244-8C7C-D1E89D1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56D"/>
                </a:solidFill>
                <a:latin typeface="Arial"/>
                <a:ea typeface="Arial"/>
                <a:cs typeface="Arial"/>
              </a:rPr>
              <a:t>DENAH LANTAI 1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09BBE7B2-742F-473B-8AA4-48E1F53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2CEA0E-3C8D-4A98-8F7D-04C7E357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Lantai 1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5EE96F-80A5-462A-A271-63C4BD34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Interpretasi sketsa awal · zona tamu di depan, kamar di tengah, servis di belakang.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9b9324c92470d"/>
          <a:stretch xmlns:a="http://schemas.openxmlformats.org/drawingml/2006/main"/>
        </p:blipFill>
        <p:spPr>
          <a:xfrm xmlns:a="http://schemas.openxmlformats.org/drawingml/2006/main">
            <a:off x="1596096" y="1790700"/>
            <a:ext cx="2665683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plan-divider">
            <a:extLst xmlns:a="http://schemas.openxmlformats.org/drawingml/2006/main">
              <a:ext uri="{FF2B5EF4-FFF2-40B4-BE49-F238E27FC236}">
                <a16:creationId xmlns:a16="http://schemas.microsoft.com/office/drawing/2014/main" id="{34061189-B2E8-48EB-9236-E8D9F79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5262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1-intro">
            <a:extLst xmlns:a="http://schemas.openxmlformats.org/drawingml/2006/main">
              <a:ext uri="{FF2B5EF4-FFF2-40B4-BE49-F238E27FC236}">
                <a16:creationId xmlns:a16="http://schemas.microsoft.com/office/drawing/2014/main" id="{B9D278DB-2481-41D0-A0D9-E8A308BB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574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Ruang utama</a:t>
            </a:r>
          </a:p>
        </p:txBody>
      </p:sp>
      <p:sp>
        <p:nvSpPr>
          <p:cNvPr id="9" name="heading-Ruang depan">
            <a:extLst xmlns:a="http://schemas.openxmlformats.org/drawingml/2006/main">
              <a:ext uri="{FF2B5EF4-FFF2-40B4-BE49-F238E27FC236}">
                <a16:creationId xmlns:a16="http://schemas.microsoft.com/office/drawing/2014/main" id="{60366A3D-A953-4E5E-80B3-5D48F8D4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098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Ruang depan</a:t>
            </a:r>
          </a:p>
        </p:txBody>
      </p:sp>
      <p:sp>
        <p:nvSpPr>
          <p:cNvPr id="10" name="body-Ruang depan">
            <a:extLst xmlns:a="http://schemas.openxmlformats.org/drawingml/2006/main">
              <a:ext uri="{FF2B5EF4-FFF2-40B4-BE49-F238E27FC236}">
                <a16:creationId xmlns:a16="http://schemas.microsoft.com/office/drawing/2014/main" id="{7B90D3F5-4083-4B55-AAD4-0D0A3FBD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337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Teras, ruang tamu, dan ruang keluarga.</a:t>
            </a:r>
          </a:p>
        </p:txBody>
      </p:sp>
      <p:sp>
        <p:nvSpPr>
          <p:cNvPr id="11" name="heading-Ruang privat">
            <a:extLst xmlns:a="http://schemas.openxmlformats.org/drawingml/2006/main">
              <a:ext uri="{FF2B5EF4-FFF2-40B4-BE49-F238E27FC236}">
                <a16:creationId xmlns:a16="http://schemas.microsoft.com/office/drawing/2014/main" id="{5F3FDC38-C528-4F75-932A-F88108CC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Ruang privat</a:t>
            </a:r>
          </a:p>
        </p:txBody>
      </p:sp>
      <p:sp>
        <p:nvSpPr>
          <p:cNvPr id="12" name="body-Ruang privat">
            <a:extLst xmlns:a="http://schemas.openxmlformats.org/drawingml/2006/main">
              <a:ext uri="{FF2B5EF4-FFF2-40B4-BE49-F238E27FC236}">
                <a16:creationId xmlns:a16="http://schemas.microsoft.com/office/drawing/2014/main" id="{E7E4BED0-A4E4-4DF5-8281-B0566CDA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Kamar 1, kamar 2, dan kamar utama dengan toilet dalam.</a:t>
            </a:r>
          </a:p>
        </p:txBody>
      </p:sp>
      <p:sp>
        <p:nvSpPr>
          <p:cNvPr id="13" name="heading-Ruang servis">
            <a:extLst xmlns:a="http://schemas.openxmlformats.org/drawingml/2006/main">
              <a:ext uri="{FF2B5EF4-FFF2-40B4-BE49-F238E27FC236}">
                <a16:creationId xmlns:a16="http://schemas.microsoft.com/office/drawing/2014/main" id="{CF8782F0-403C-4038-99EB-8C878F98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672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Ruang servis</a:t>
            </a:r>
          </a:p>
        </p:txBody>
      </p:sp>
      <p:sp>
        <p:nvSpPr>
          <p:cNvPr id="14" name="body-Ruang servis">
            <a:extLst xmlns:a="http://schemas.openxmlformats.org/drawingml/2006/main">
              <a:ext uri="{FF2B5EF4-FFF2-40B4-BE49-F238E27FC236}">
                <a16:creationId xmlns:a16="http://schemas.microsoft.com/office/drawing/2014/main" id="{DF6344DE-873F-4B2B-B384-119C7EF3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911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Pantry / dapur, meja makan, toilet bersama, dan area cuci jemur.</a:t>
            </a:r>
          </a:p>
        </p:txBody>
      </p:sp>
      <p:sp>
        <p:nvSpPr>
          <p:cNvPr id="15" name="f1-note">
            <a:extLst xmlns:a="http://schemas.openxmlformats.org/drawingml/2006/main">
              <a:ext uri="{FF2B5EF4-FFF2-40B4-BE49-F238E27FC236}">
                <a16:creationId xmlns:a16="http://schemas.microsoft.com/office/drawing/2014/main" id="{39CC82C5-FAF0-432A-A55D-579414B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674B"/>
                </a:solidFill>
                <a:latin typeface="Arial"/>
                <a:ea typeface="Arial"/>
                <a:cs typeface="Arial"/>
              </a:rPr>
              <a:t>Posisi dan ukuran setiap ruang masih perkiraan.</a:t>
            </a:r>
          </a:p>
        </p:txBody>
      </p:sp>
    </p:spTree>
    <p:extLst>
      <p:ext uri="{BB962C8B-B14F-4D97-AF65-F5344CB8AC3E}">
        <p14:creationId xmlns:p14="http://schemas.microsoft.com/office/powerpoint/2010/main" val="2069158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-4">
            <a:extLst xmlns:a="http://schemas.openxmlformats.org/drawingml/2006/main">
              <a:ext uri="{FF2B5EF4-FFF2-40B4-BE49-F238E27FC236}">
                <a16:creationId xmlns:a16="http://schemas.microsoft.com/office/drawing/2014/main" id="{227B323F-32D6-46AE-9424-0705F39D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6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6DF82D73-2ADD-4305-8F0C-BBB258BD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56D"/>
                </a:solidFill>
                <a:latin typeface="Arial"/>
                <a:ea typeface="Arial"/>
                <a:cs typeface="Arial"/>
              </a:rPr>
              <a:t>DENAH LANTAI 2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55BE482-7E91-4B24-9FED-CE6F4184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211D9C-889B-499F-82F8-E1108B6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Lantai 2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27DDF4-DA0E-48CF-B312-29CF83F0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Kamar anak berdekatan dengan toilet bersama; kamar utama memiliki toilet di dalam.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1180499ab462c"/>
          <a:stretch xmlns:a="http://schemas.openxmlformats.org/drawingml/2006/main"/>
        </p:blipFill>
        <p:spPr>
          <a:xfrm xmlns:a="http://schemas.openxmlformats.org/drawingml/2006/main">
            <a:off x="1596096" y="1790700"/>
            <a:ext cx="2665683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plan-divider">
            <a:extLst xmlns:a="http://schemas.openxmlformats.org/drawingml/2006/main">
              <a:ext uri="{FF2B5EF4-FFF2-40B4-BE49-F238E27FC236}">
                <a16:creationId xmlns:a16="http://schemas.microsoft.com/office/drawing/2014/main" id="{6ABF1916-D155-485A-AA7D-948229C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5262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2-intro">
            <a:extLst xmlns:a="http://schemas.openxmlformats.org/drawingml/2006/main">
              <a:ext uri="{FF2B5EF4-FFF2-40B4-BE49-F238E27FC236}">
                <a16:creationId xmlns:a16="http://schemas.microsoft.com/office/drawing/2014/main" id="{D77F5489-984E-46D7-A8B5-B1412C22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574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Ruang yang diminta</a:t>
            </a:r>
          </a:p>
        </p:txBody>
      </p:sp>
      <p:sp>
        <p:nvSpPr>
          <p:cNvPr id="9" name="heading-Balkon dan kerja">
            <a:extLst xmlns:a="http://schemas.openxmlformats.org/drawingml/2006/main">
              <a:ext uri="{FF2B5EF4-FFF2-40B4-BE49-F238E27FC236}">
                <a16:creationId xmlns:a16="http://schemas.microsoft.com/office/drawing/2014/main" id="{A6A76F17-537B-4498-92A7-CBA8922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098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Balkon dan kerja</a:t>
            </a:r>
          </a:p>
        </p:txBody>
      </p:sp>
      <p:sp>
        <p:nvSpPr>
          <p:cNvPr id="10" name="body-Balkon dan kerja">
            <a:extLst xmlns:a="http://schemas.openxmlformats.org/drawingml/2006/main">
              <a:ext uri="{FF2B5EF4-FFF2-40B4-BE49-F238E27FC236}">
                <a16:creationId xmlns:a16="http://schemas.microsoft.com/office/drawing/2014/main" id="{5AC7DB88-0A07-4DB2-AAAA-A2318E19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337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Balkon depan, ruang tamu, area meja kerja, dan lemari sepatu.</a:t>
            </a:r>
          </a:p>
        </p:txBody>
      </p:sp>
      <p:sp>
        <p:nvSpPr>
          <p:cNvPr id="11" name="heading-Kamar tidur">
            <a:extLst xmlns:a="http://schemas.openxmlformats.org/drawingml/2006/main">
              <a:ext uri="{FF2B5EF4-FFF2-40B4-BE49-F238E27FC236}">
                <a16:creationId xmlns:a16="http://schemas.microsoft.com/office/drawing/2014/main" id="{99BEEC3D-6E96-462A-83E3-9F435130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Kamar tidur</a:t>
            </a:r>
          </a:p>
        </p:txBody>
      </p:sp>
      <p:sp>
        <p:nvSpPr>
          <p:cNvPr id="12" name="body-Kamar tidur">
            <a:extLst xmlns:a="http://schemas.openxmlformats.org/drawingml/2006/main">
              <a:ext uri="{FF2B5EF4-FFF2-40B4-BE49-F238E27FC236}">
                <a16:creationId xmlns:a16="http://schemas.microsoft.com/office/drawing/2014/main" id="{75813CD3-E140-4807-9A05-4CB12B2F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Kamar utama dengan toilet dalam, kamar anak perempuan dengan ranjang tingkat, dan kamar anak laki-laki.</a:t>
            </a:r>
          </a:p>
        </p:txBody>
      </p:sp>
      <p:sp>
        <p:nvSpPr>
          <p:cNvPr id="13" name="heading-Makan dan servis">
            <a:extLst xmlns:a="http://schemas.openxmlformats.org/drawingml/2006/main">
              <a:ext uri="{FF2B5EF4-FFF2-40B4-BE49-F238E27FC236}">
                <a16:creationId xmlns:a16="http://schemas.microsoft.com/office/drawing/2014/main" id="{BB235C4F-1D58-4BEC-88CE-D950CE4B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Makan dan servis</a:t>
            </a:r>
          </a:p>
        </p:txBody>
      </p:sp>
      <p:sp>
        <p:nvSpPr>
          <p:cNvPr id="14" name="body-Makan dan servis">
            <a:extLst xmlns:a="http://schemas.openxmlformats.org/drawingml/2006/main">
              <a:ext uri="{FF2B5EF4-FFF2-40B4-BE49-F238E27FC236}">
                <a16:creationId xmlns:a16="http://schemas.microsoft.com/office/drawing/2014/main" id="{75AF1E64-B647-4833-B56B-7C98E7E2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6255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Toilet bersama, area meja makan, dan pantry.</a:t>
            </a:r>
          </a:p>
        </p:txBody>
      </p:sp>
      <p:sp>
        <p:nvSpPr>
          <p:cNvPr id="15" name="f2-note">
            <a:extLst xmlns:a="http://schemas.openxmlformats.org/drawingml/2006/main">
              <a:ext uri="{FF2B5EF4-FFF2-40B4-BE49-F238E27FC236}">
                <a16:creationId xmlns:a16="http://schemas.microsoft.com/office/drawing/2014/main" id="{0E17069D-A241-4F21-B138-3F7571F5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02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674B"/>
                </a:solidFill>
                <a:latin typeface="Arial"/>
                <a:ea typeface="Arial"/>
                <a:cs typeface="Arial"/>
              </a:rPr>
              <a:t>Akses tangga dan ruang gerak perlu diuji lagi pada ukuran tapak sebenarnya.</a:t>
            </a:r>
          </a:p>
        </p:txBody>
      </p:sp>
    </p:spTree>
    <p:extLst>
      <p:ext uri="{BB962C8B-B14F-4D97-AF65-F5344CB8AC3E}">
        <p14:creationId xmlns:p14="http://schemas.microsoft.com/office/powerpoint/2010/main" val="641972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-5">
            <a:extLst xmlns:a="http://schemas.openxmlformats.org/drawingml/2006/main">
              <a:ext uri="{FF2B5EF4-FFF2-40B4-BE49-F238E27FC236}">
                <a16:creationId xmlns:a16="http://schemas.microsoft.com/office/drawing/2014/main" id="{9D5E6122-4F1B-4EEF-B58B-217E3703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6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98D78313-E939-43E0-A101-4326F903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56D"/>
                </a:solidFill>
                <a:latin typeface="Arial"/>
                <a:ea typeface="Arial"/>
                <a:cs typeface="Arial"/>
              </a:rPr>
              <a:t>MODEL 3D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601CD0F-10E9-4060-91EA-BDAE547C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845CE-F595-4E24-BC28-2023B100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Tiga cara membaca rumah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E97327-8031-4134-A54E-4C83AC58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Model Blender memisahkan rumah utuh, lantai 1 terbuka, dan lantai 2.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227ac56324d08"/>
          <a:stretch xmlns:a="http://schemas.openxmlformats.org/drawingml/2006/main"/>
        </p:blipFill>
        <p:spPr>
          <a:xfrm xmlns:a="http://schemas.openxmlformats.org/drawingml/2006/main">
            <a:off x="685800" y="2542495"/>
            <a:ext cx="3162300" cy="2258786"/>
          </a:xfrm>
          <a:prstGeom xmlns:a="http://schemas.openxmlformats.org/drawingml/2006/main" prst="rect">
            <a:avLst/>
          </a:prstGeom>
        </p:spPr>
      </p:pic>
      <p:sp>
        <p:nvSpPr>
          <p:cNvPr id="7" name="label-72">
            <a:extLst xmlns:a="http://schemas.openxmlformats.org/drawingml/2006/main">
              <a:ext uri="{FF2B5EF4-FFF2-40B4-BE49-F238E27FC236}">
                <a16:creationId xmlns:a16="http://schemas.microsoft.com/office/drawing/2014/main" id="{636985A9-A4DF-4DD0-A22D-D1549DC0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162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01  ·  RUMAH UTUH</a:t>
            </a:r>
          </a:p>
        </p:txBody>
      </p:sp>
      <p:sp>
        <p:nvSpPr>
          <p:cNvPr id="8" name="detail-72">
            <a:extLst xmlns:a="http://schemas.openxmlformats.org/drawingml/2006/main">
              <a:ext uri="{FF2B5EF4-FFF2-40B4-BE49-F238E27FC236}">
                <a16:creationId xmlns:a16="http://schemas.microsoft.com/office/drawing/2014/main" id="{6BA00A29-B537-477A-BB4C-57549B3F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Bentuk massa dan atap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dfd41a7044434"/>
          <a:stretch xmlns:a="http://schemas.openxmlformats.org/drawingml/2006/main"/>
        </p:blipFill>
        <p:spPr>
          <a:xfrm xmlns:a="http://schemas.openxmlformats.org/drawingml/2006/main">
            <a:off x="4514850" y="2542495"/>
            <a:ext cx="3162300" cy="2258786"/>
          </a:xfrm>
          <a:prstGeom xmlns:a="http://schemas.openxmlformats.org/drawingml/2006/main" prst="rect">
            <a:avLst/>
          </a:prstGeom>
        </p:spPr>
      </p:pic>
      <p:sp>
        <p:nvSpPr>
          <p:cNvPr id="10" name="label-474">
            <a:extLst xmlns:a="http://schemas.openxmlformats.org/drawingml/2006/main">
              <a:ext uri="{FF2B5EF4-FFF2-40B4-BE49-F238E27FC236}">
                <a16:creationId xmlns:a16="http://schemas.microsoft.com/office/drawing/2014/main" id="{3BF7F7DC-508D-4486-8493-47FB523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05450"/>
            <a:ext cx="3162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02  ·  LANTAI 1</a:t>
            </a:r>
          </a:p>
        </p:txBody>
      </p:sp>
      <p:sp>
        <p:nvSpPr>
          <p:cNvPr id="11" name="detail-474">
            <a:extLst xmlns:a="http://schemas.openxmlformats.org/drawingml/2006/main">
              <a:ext uri="{FF2B5EF4-FFF2-40B4-BE49-F238E27FC236}">
                <a16:creationId xmlns:a16="http://schemas.microsoft.com/office/drawing/2014/main" id="{20942674-AF0F-4D3D-8969-385743BC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81675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Bidang atas disembunyikan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0beedc2004089"/>
          <a:stretch xmlns:a="http://schemas.openxmlformats.org/drawingml/2006/main"/>
        </p:blipFill>
        <p:spPr>
          <a:xfrm xmlns:a="http://schemas.openxmlformats.org/drawingml/2006/main">
            <a:off x="8343900" y="2542495"/>
            <a:ext cx="3162300" cy="2258786"/>
          </a:xfrm>
          <a:prstGeom xmlns:a="http://schemas.openxmlformats.org/drawingml/2006/main" prst="rect">
            <a:avLst/>
          </a:prstGeom>
        </p:spPr>
      </p:pic>
      <p:sp>
        <p:nvSpPr>
          <p:cNvPr id="13" name="label-876">
            <a:extLst xmlns:a="http://schemas.openxmlformats.org/drawingml/2006/main">
              <a:ext uri="{FF2B5EF4-FFF2-40B4-BE49-F238E27FC236}">
                <a16:creationId xmlns:a16="http://schemas.microsoft.com/office/drawing/2014/main" id="{CEB9B5E1-17F0-4741-ABBB-312C3928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05450"/>
            <a:ext cx="3162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F5F"/>
                </a:solidFill>
                <a:latin typeface="Arial"/>
                <a:ea typeface="Arial"/>
                <a:cs typeface="Arial"/>
              </a:rPr>
              <a:t>03  ·  LANTAI 2</a:t>
            </a:r>
          </a:p>
        </p:txBody>
      </p:sp>
      <p:sp>
        <p:nvSpPr>
          <p:cNvPr id="14" name="detail-876">
            <a:extLst xmlns:a="http://schemas.openxmlformats.org/drawingml/2006/main">
              <a:ext uri="{FF2B5EF4-FFF2-40B4-BE49-F238E27FC236}">
                <a16:creationId xmlns:a16="http://schemas.microsoft.com/office/drawing/2014/main" id="{276162E6-14DC-457E-AA34-19757F9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81675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Kamar dan ruang atas</a:t>
            </a:r>
          </a:p>
        </p:txBody>
      </p:sp>
    </p:spTree>
    <p:extLst>
      <p:ext uri="{BB962C8B-B14F-4D97-AF65-F5344CB8AC3E}">
        <p14:creationId xmlns:p14="http://schemas.microsoft.com/office/powerpoint/2010/main" val="899491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-6">
            <a:extLst xmlns:a="http://schemas.openxmlformats.org/drawingml/2006/main">
              <a:ext uri="{FF2B5EF4-FFF2-40B4-BE49-F238E27FC236}">
                <a16:creationId xmlns:a16="http://schemas.microsoft.com/office/drawing/2014/main" id="{5E28445E-76F9-46E0-BDF3-C54D2A91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6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74DD60CB-C4DA-443C-B2D4-AEE2519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56D"/>
                </a:solidFill>
                <a:latin typeface="Arial"/>
                <a:ea typeface="Arial"/>
                <a:cs typeface="Arial"/>
              </a:rPr>
              <a:t>CATATAN PENGEMBANGAN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54D3C2DD-03D5-4342-BA04-1EEAE558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34F367-CE1A-4CD5-B5E2-8A3F82D7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Hal yang perlu dipastikan berikutnya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7F9971-F1EB-4E5D-999D-BBE9ED34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Sebelum denah menjadi gambar kerja, cocokkan konsep dengan tapak dan kebutuhan penghuni.</a:t>
            </a:r>
          </a:p>
        </p:txBody>
      </p:sp>
      <p:sp>
        <p:nvSpPr>
          <p:cNvPr id="6" name="note-01">
            <a:extLst xmlns:a="http://schemas.openxmlformats.org/drawingml/2006/main">
              <a:ext uri="{FF2B5EF4-FFF2-40B4-BE49-F238E27FC236}">
                <a16:creationId xmlns:a16="http://schemas.microsoft.com/office/drawing/2014/main" id="{79B6DBBC-AB3E-4A30-8ECB-BED5C9C8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E67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heading-01">
            <a:extLst xmlns:a="http://schemas.openxmlformats.org/drawingml/2006/main">
              <a:ext uri="{FF2B5EF4-FFF2-40B4-BE49-F238E27FC236}">
                <a16:creationId xmlns:a16="http://schemas.microsoft.com/office/drawing/2014/main" id="{4AE66ACE-1D08-4007-BAA0-9DB2E765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621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Ukur lahan dan aturan tapak</a:t>
            </a:r>
          </a:p>
        </p:txBody>
      </p:sp>
      <p:sp>
        <p:nvSpPr>
          <p:cNvPr id="8" name="body-01">
            <a:extLst xmlns:a="http://schemas.openxmlformats.org/drawingml/2006/main">
              <a:ext uri="{FF2B5EF4-FFF2-40B4-BE49-F238E27FC236}">
                <a16:creationId xmlns:a16="http://schemas.microsoft.com/office/drawing/2014/main" id="{68DC6CCE-4DA0-4F92-BB1C-A822316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628900"/>
            <a:ext cx="438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Pastikan lebar, panjang, orientasi akses, batas bangunan, dan ketentuan setempat.</a:t>
            </a:r>
          </a:p>
        </p:txBody>
      </p:sp>
      <p:sp>
        <p:nvSpPr>
          <p:cNvPr id="9" name="note-02">
            <a:extLst xmlns:a="http://schemas.openxmlformats.org/drawingml/2006/main">
              <a:ext uri="{FF2B5EF4-FFF2-40B4-BE49-F238E27FC236}">
                <a16:creationId xmlns:a16="http://schemas.microsoft.com/office/drawing/2014/main" id="{B6E2A995-5B24-4EFA-9DCE-BC39698D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621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E67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heading-02">
            <a:extLst xmlns:a="http://schemas.openxmlformats.org/drawingml/2006/main">
              <a:ext uri="{FF2B5EF4-FFF2-40B4-BE49-F238E27FC236}">
                <a16:creationId xmlns:a16="http://schemas.microsoft.com/office/drawing/2014/main" id="{0E83DD02-10EA-4884-A416-B4950C33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621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Uji tangga dan sirkulasi</a:t>
            </a:r>
          </a:p>
        </p:txBody>
      </p:sp>
      <p:sp>
        <p:nvSpPr>
          <p:cNvPr id="11" name="body-02">
            <a:extLst xmlns:a="http://schemas.openxmlformats.org/drawingml/2006/main">
              <a:ext uri="{FF2B5EF4-FFF2-40B4-BE49-F238E27FC236}">
                <a16:creationId xmlns:a16="http://schemas.microsoft.com/office/drawing/2014/main" id="{4ACC3CED-5589-4E0B-A546-818D60A5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28900"/>
            <a:ext cx="438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Periksa lebar jalur, posisi pintu, dan kemudahan bergerak di antara ruang.</a:t>
            </a:r>
          </a:p>
        </p:txBody>
      </p:sp>
      <p:sp>
        <p:nvSpPr>
          <p:cNvPr id="12" name="note-03">
            <a:extLst xmlns:a="http://schemas.openxmlformats.org/drawingml/2006/main">
              <a:ext uri="{FF2B5EF4-FFF2-40B4-BE49-F238E27FC236}">
                <a16:creationId xmlns:a16="http://schemas.microsoft.com/office/drawing/2014/main" id="{5D65DD29-F724-40B6-A4C8-A13D8D0C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E67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heading-03">
            <a:extLst xmlns:a="http://schemas.openxmlformats.org/drawingml/2006/main">
              <a:ext uri="{FF2B5EF4-FFF2-40B4-BE49-F238E27FC236}">
                <a16:creationId xmlns:a16="http://schemas.microsoft.com/office/drawing/2014/main" id="{2FB2D17F-D91F-420D-8D74-C75B9B62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71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Cek cahaya dan udara</a:t>
            </a:r>
          </a:p>
        </p:txBody>
      </p:sp>
      <p:sp>
        <p:nvSpPr>
          <p:cNvPr id="14" name="body-03">
            <a:extLst xmlns:a="http://schemas.openxmlformats.org/drawingml/2006/main">
              <a:ext uri="{FF2B5EF4-FFF2-40B4-BE49-F238E27FC236}">
                <a16:creationId xmlns:a16="http://schemas.microsoft.com/office/drawing/2014/main" id="{27879B5A-8B7C-4B46-B563-0A934EBB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38625"/>
            <a:ext cx="438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Tentukan bukaan luar dan privasi kamar berdasarkan sisi bangunan yang tersedia.</a:t>
            </a:r>
          </a:p>
        </p:txBody>
      </p:sp>
      <p:sp>
        <p:nvSpPr>
          <p:cNvPr id="15" name="note-04">
            <a:extLst xmlns:a="http://schemas.openxmlformats.org/drawingml/2006/main">
              <a:ext uri="{FF2B5EF4-FFF2-40B4-BE49-F238E27FC236}">
                <a16:creationId xmlns:a16="http://schemas.microsoft.com/office/drawing/2014/main" id="{733DE7B9-908A-493E-A05E-FE42380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E67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E67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heading-04">
            <a:extLst xmlns:a="http://schemas.openxmlformats.org/drawingml/2006/main">
              <a:ext uri="{FF2B5EF4-FFF2-40B4-BE49-F238E27FC236}">
                <a16:creationId xmlns:a16="http://schemas.microsoft.com/office/drawing/2014/main" id="{5D03C510-5A95-4603-87B5-52E7B495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71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1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2D"/>
                </a:solidFill>
                <a:latin typeface="Arial"/>
                <a:ea typeface="Arial"/>
                <a:cs typeface="Arial"/>
              </a:rPr>
              <a:t>Koordinasikan ruang basah</a:t>
            </a:r>
          </a:p>
        </p:txBody>
      </p:sp>
      <p:sp>
        <p:nvSpPr>
          <p:cNvPr id="17" name="body-04">
            <a:extLst xmlns:a="http://schemas.openxmlformats.org/drawingml/2006/main">
              <a:ext uri="{FF2B5EF4-FFF2-40B4-BE49-F238E27FC236}">
                <a16:creationId xmlns:a16="http://schemas.microsoft.com/office/drawing/2014/main" id="{04BD97A2-9349-45DF-9A07-9EF8E578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38625"/>
            <a:ext cx="438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56D"/>
                </a:solidFill>
                <a:latin typeface="Arial"/>
                <a:ea typeface="Arial"/>
                <a:cs typeface="Arial"/>
              </a:rPr>
              <a:t>Selaraskan posisi toilet, pantry, saluran, dan jalur instalasi antar lantai.</a:t>
            </a:r>
          </a:p>
        </p:txBody>
      </p:sp>
      <p:sp>
        <p:nvSpPr>
          <p:cNvPr id="18" name="final-rule">
            <a:extLst xmlns:a="http://schemas.openxmlformats.org/drawingml/2006/main">
              <a:ext uri="{FF2B5EF4-FFF2-40B4-BE49-F238E27FC236}">
                <a16:creationId xmlns:a16="http://schemas.microsoft.com/office/drawing/2014/main" id="{1BE150C0-247F-4E4F-A6EB-41CB48EB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nal-caveat">
            <a:extLst xmlns:a="http://schemas.openxmlformats.org/drawingml/2006/main">
              <a:ext uri="{FF2B5EF4-FFF2-40B4-BE49-F238E27FC236}">
                <a16:creationId xmlns:a16="http://schemas.microsoft.com/office/drawing/2014/main" id="{8426E62C-6A51-4ACD-8F05-AAE6FA3F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F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F5F"/>
                </a:solidFill>
                <a:latin typeface="Arial"/>
                <a:ea typeface="Arial"/>
                <a:cs typeface="Arial"/>
              </a:rPr>
              <a:t>Konsep ini adalah dasar diskusi. Ukuran ruang dan detail konstruksi belum diverifikasi.</a:t>
            </a:r>
          </a:p>
        </p:txBody>
      </p:sp>
    </p:spTree>
    <p:extLst>
      <p:ext uri="{BB962C8B-B14F-4D97-AF65-F5344CB8AC3E}">
        <p14:creationId xmlns:p14="http://schemas.microsoft.com/office/powerpoint/2010/main" val="458507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2026-10-02T00:55:05.3250000Z</dcterms:created>
  <dcterms:modified xsi:type="dcterms:W3CDTF">2026-10-02T00:55:05.3260000Z</dcterms:modified>
</coreProperties>
</file>